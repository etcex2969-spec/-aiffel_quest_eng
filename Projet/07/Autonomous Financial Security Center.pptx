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Urbanist Medium"/>
      <p:regular r:id="rId19"/>
      <p:bold r:id="rId20"/>
      <p:italic r:id="rId21"/>
      <p:boldItalic r:id="rId22"/>
    </p:embeddedFont>
    <p:embeddedFont>
      <p:font typeface="Urbanis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FE2C7A6-3E53-412A-96C7-A0D579D800DC}">
  <a:tblStyle styleId="{5FE2C7A6-3E53-412A-96C7-A0D579D800D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Medium-bold.fntdata"/><Relationship Id="rId22" Type="http://schemas.openxmlformats.org/officeDocument/2006/relationships/font" Target="fonts/UrbanistMedium-boldItalic.fntdata"/><Relationship Id="rId21" Type="http://schemas.openxmlformats.org/officeDocument/2006/relationships/font" Target="fonts/UrbanistMedium-italic.fntdata"/><Relationship Id="rId24" Type="http://schemas.openxmlformats.org/officeDocument/2006/relationships/font" Target="fonts/Urbanist-bold.fntdata"/><Relationship Id="rId23" Type="http://schemas.openxmlformats.org/officeDocument/2006/relationships/font" Target="fonts/Urbanis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boldItalic.fntdata"/><Relationship Id="rId25" Type="http://schemas.openxmlformats.org/officeDocument/2006/relationships/font" Target="fonts/Urbanis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UrbanistMedium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9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2.png"/><Relationship Id="rId7" Type="http://schemas.openxmlformats.org/officeDocument/2006/relationships/image" Target="../media/image7.png"/><Relationship Id="rId8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590561" y="2263229"/>
            <a:ext cx="7010876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Autonomous Financial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Security Center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757487" y="4000351"/>
            <a:ext cx="66770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Next-Generation Evolving AI Agent Workflows (v2.0)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2286000" y="2200275"/>
            <a:ext cx="8001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Mechanism of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5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Self-Evolution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286000" y="3857625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How AI agents learn from mistakes, accumulate wisdom, and adapt to emerging financial threats without human intervention.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 txBox="1"/>
          <p:nvPr/>
        </p:nvSpPr>
        <p:spPr>
          <a:xfrm>
            <a:off x="571500" y="2971800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Legacy Systems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6381750" y="2971800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Evolving Engine v2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914400" y="338137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952500" y="338137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Fixed rule-based detection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914400" y="368617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952500" y="368617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Manual updates for new threats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914400" y="399097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952500" y="399097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High rate of false positives over time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14400" y="429577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952500" y="429577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Zero learning from past cycles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724650" y="338137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762750" y="338137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Dynamic agentic workflows 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724650" y="368617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762750" y="368617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Self-reflection and critic-led feedback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724650" y="399097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762750" y="399097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Automatic insight accumulation in Memory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724650" y="429577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762750" y="429577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Decreasing error rates via self-correction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Static Automation vs. </a:t>
            </a:r>
            <a:r>
              <a:rPr b="1" i="0" lang="en-US" sz="31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Evolving Intelligence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19262"/>
            <a:ext cx="42862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728787"/>
            <a:ext cx="42672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6381750" y="2705100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Self-Reflection Cycle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6381750" y="3114675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Every analysis triggers a </a:t>
            </a:r>
            <a:r>
              <a:rPr b="0" i="0" lang="en-US" sz="15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Critic Agent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 This agent audits the analyst's output, identifies missing data points, and stores "Lessons Learned" in the Long-term Memory store.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381750" y="421957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 the next cycle, the Analyst agent retrieves these memories to perform a superior, high-fidelity investigation.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Heart: </a:t>
            </a:r>
            <a:r>
              <a:rPr b="1" i="0" lang="en-US" sz="31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The Learning Loop</a:t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573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571500" y="1957387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Frictionless Oversight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571500" y="2366962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Integrating direct data streams from financial exchanges and bank logs. The system flags anomalies using "Threat Scores" calculated by multiple agent perspectives.</a:t>
            </a:r>
            <a:endParaRPr/>
          </a:p>
        </p:txBody>
      </p:sp>
      <p:pic>
        <p:nvPicPr>
          <p:cNvPr descr="image.png" id="139" name="Google Shape;13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66912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914400" y="3471862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952500" y="347186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Brute-force login detection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914400" y="3776662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952500" y="377666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Abnormal transaction pattern matching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914400" y="4081462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952500" y="408146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Instant malicious IP cross-referencing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Real-time </a:t>
            </a:r>
            <a:r>
              <a:rPr b="1" i="0" lang="en-US" sz="31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Transaction Monitoring</a:t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762000" y="1500187"/>
            <a:ext cx="5000625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Power of </a:t>
            </a:r>
            <a:r>
              <a:rPr b="1" i="0" lang="en-US" sz="31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Internal Criticism</a:t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571500" y="1500187"/>
            <a:ext cx="47625" cy="9715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571500" y="2852737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Quality Assurance Agent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571500" y="3262312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"Critic" agent acts as an uncompromising auditor. It ensures that the security analyst never becomes complacent or overly brief.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571500" y="455771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This internal friction creates a diamond-hard logic that survives real-world adversarial attacks.</a:t>
            </a:r>
            <a:endParaRPr/>
          </a:p>
        </p:txBody>
      </p:sp>
      <p:pic>
        <p:nvPicPr>
          <p:cNvPr descr="image.png" id="158" name="Google Shape;15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95550"/>
            <a:ext cx="3492400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495550"/>
            <a:ext cx="3492549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495550"/>
            <a:ext cx="3492400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7908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866775" y="3362325"/>
            <a:ext cx="304694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Long-term Memory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866775" y="3829050"/>
            <a:ext cx="2901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Vector-based storage of every success and failure for contextual recall.</a:t>
            </a:r>
            <a:endParaRPr/>
          </a:p>
        </p:txBody>
      </p:sp>
      <p:pic>
        <p:nvPicPr>
          <p:cNvPr descr="image.png" id="170" name="Google Shape;170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4925" y="27908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4644925" y="3362325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Self-Reflection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4644925" y="3829050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Agents evaluating their own performance scores after every task.</a:t>
            </a:r>
            <a:endParaRPr/>
          </a:p>
        </p:txBody>
      </p:sp>
      <p:pic>
        <p:nvPicPr>
          <p:cNvPr descr="image.png" id="173" name="Google Shape;173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225" y="27908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8423225" y="3362325"/>
            <a:ext cx="304694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Zero-Trust Auth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8423225" y="3829050"/>
            <a:ext cx="2901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Secrets management ensuring API keys are never exposed in plaintext.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4 Pillars of </a:t>
            </a:r>
            <a:r>
              <a:rPr b="1" i="0" lang="en-US" sz="31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Autonomous Evolution</a:t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571500" y="3081337"/>
            <a:ext cx="52387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99.8%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571500" y="4319587"/>
            <a:ext cx="5238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Detection Accuracy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6381750" y="3081337"/>
            <a:ext cx="52387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-85%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6381750" y="4319587"/>
            <a:ext cx="5238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Human Intervention Required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Performance </a:t>
            </a:r>
            <a:r>
              <a:rPr b="1" i="0" lang="en-US" sz="31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Breakthroughs</a:t>
            </a:r>
            <a:endParaRPr/>
          </a:p>
        </p:txBody>
      </p:sp>
      <p:sp>
        <p:nvSpPr>
          <p:cNvPr id="188" name="Google Shape;188;p20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38275"/>
            <a:ext cx="11049000" cy="484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/>
        </p:nvSpPr>
        <p:spPr>
          <a:xfrm>
            <a:off x="2490787" y="5186362"/>
            <a:ext cx="7210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Intelligence increases exponentially as the "Critic Agent" builds the memory repository.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Growth of </a:t>
            </a:r>
            <a:r>
              <a:rPr b="1" i="0" lang="en-US" sz="31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Detection IQ</a:t>
            </a:r>
            <a:endParaRPr/>
          </a:p>
        </p:txBody>
      </p:sp>
      <p:sp>
        <p:nvSpPr>
          <p:cNvPr id="197" name="Google Shape;197;p21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2"/>
          <p:cNvSpPr/>
          <p:nvPr/>
        </p:nvSpPr>
        <p:spPr>
          <a:xfrm>
            <a:off x="571500" y="3852862"/>
            <a:ext cx="11049000" cy="190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2"/>
          <p:cNvSpPr txBox="1"/>
          <p:nvPr/>
        </p:nvSpPr>
        <p:spPr>
          <a:xfrm>
            <a:off x="510733" y="3733800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Phase 1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571500" y="4143375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Rule-based monitoring &amp; Alerts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3383413" y="3733800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Phase 2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3444180" y="4143375"/>
            <a:ext cx="243066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AI Agent Analysis (v1)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6256094" y="3733800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Phase 3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6316860" y="4143375"/>
            <a:ext cx="243066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Self-Evolving Loop (Current)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9128774" y="3733800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Phase 4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9189541" y="4143375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Autonomous Defense Response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Path to </a:t>
            </a:r>
            <a:r>
              <a:rPr b="1" i="0" lang="en-US" sz="31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Level 5 Autonomy</a:t>
            </a:r>
            <a:endParaRPr/>
          </a:p>
        </p:txBody>
      </p:sp>
      <p:sp>
        <p:nvSpPr>
          <p:cNvPr id="213" name="Google Shape;213;p22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1691580" y="325755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4564260" y="325755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7436941" y="325755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10309621" y="325755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3" name="Google Shape;223;p23"/>
          <p:cNvGraphicFramePr/>
          <p:nvPr/>
        </p:nvGraphicFramePr>
        <p:xfrm>
          <a:off x="571500" y="27146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{5FE2C7A6-3E53-412A-96C7-A0D579D800DC}</a:tableStyleId>
              </a:tblPr>
              <a:tblGrid>
                <a:gridCol w="2880425"/>
                <a:gridCol w="4480775"/>
                <a:gridCol w="3687800"/>
              </a:tblGrid>
              <a:tr h="57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0B98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Agent Role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0B98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Primary Objective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0B98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Key Deliverable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B981"/>
                    </a:solidFill>
                  </a:tcPr>
                </a:tc>
              </a:tr>
              <a:tr h="57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Senior Security Analyst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Deep log investigation &amp; Threat hunting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Incident Reports &amp; Metadata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Quality Assurance Critic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Peer review &amp; Performance auditing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Improvement Memory Artifacts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Memory Manager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Contextual recall &amp; Data preservation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Knowledge Base Synthesis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4" name="Google Shape;224;p23"/>
          <p:cNvSpPr/>
          <p:nvPr/>
        </p:nvSpPr>
        <p:spPr>
          <a:xfrm>
            <a:off x="571500" y="3267075"/>
            <a:ext cx="2880419" cy="190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3451919" y="3267075"/>
            <a:ext cx="4480768" cy="190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7932687" y="3267075"/>
            <a:ext cx="3687812" cy="190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571500" y="3852862"/>
            <a:ext cx="2880419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3451919" y="3852862"/>
            <a:ext cx="4480768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7932687" y="3852862"/>
            <a:ext cx="3687812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571500" y="4424362"/>
            <a:ext cx="2880419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3451919" y="4424362"/>
            <a:ext cx="4480768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7932687" y="4424362"/>
            <a:ext cx="3687812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571500" y="4995862"/>
            <a:ext cx="2880419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3451919" y="4995862"/>
            <a:ext cx="4480768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7932687" y="4995862"/>
            <a:ext cx="3687812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Collaborative </a:t>
            </a:r>
            <a:r>
              <a:rPr b="1" i="0" lang="en-US" sz="31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Agent Roles</a:t>
            </a:r>
            <a:endParaRPr/>
          </a:p>
        </p:txBody>
      </p:sp>
      <p:sp>
        <p:nvSpPr>
          <p:cNvPr id="237" name="Google Shape;237;p23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2" name="Google Shape;24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4"/>
          <p:cNvSpPr txBox="1"/>
          <p:nvPr/>
        </p:nvSpPr>
        <p:spPr>
          <a:xfrm>
            <a:off x="4505325" y="4221360"/>
            <a:ext cx="3181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Autonomous Financial Security Center</a:t>
            </a:r>
            <a:endParaRPr/>
          </a:p>
        </p:txBody>
      </p:sp>
      <p:sp>
        <p:nvSpPr>
          <p:cNvPr id="244" name="Google Shape;244;p24"/>
          <p:cNvSpPr txBox="1"/>
          <p:nvPr/>
        </p:nvSpPr>
        <p:spPr>
          <a:xfrm>
            <a:off x="4505325" y="4716660"/>
            <a:ext cx="3181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www.evolving-ai-defense.com</a:t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2000488" y="1645890"/>
            <a:ext cx="8191023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Evolution</a:t>
            </a:r>
            <a:r>
              <a:rPr b="1" i="0" lang="en-US" sz="6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Never Sleeps</a:t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4310062" y="2865090"/>
            <a:ext cx="35718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Ready to deploy v2.0 to production?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